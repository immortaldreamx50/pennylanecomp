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Quantum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Classical computers use bits (0 or 1). Quantum computers use qubits — they can be 0, 1, or both at once (superposition).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Multiple qubits can be entangled — measuring one instantly tells us about another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Quantum algorithms can solve certain problems exponentially faster than classical 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PennyLane is a Python library for quantum computing, developed by Xanadu. It lets us build, simulate, and test quantum circuits using familiar Python syntax.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Getting Started with PennyLane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Every quantum circuit in PennyLane is a Python function decorated with @qp.qnode(dev):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20"/>
            <a:ext cx="10515600" cy="2084831"/>
          </a:xfrm>
          <a:prstGeom prst="rect">
            <a:avLst/>
          </a:prstGeom>
          <a:solidFill>
            <a:srgbClr val="1A1A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import pennylane as qp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dev = qp.device("default.qubit", wires=2)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@qp.qnode(dev)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def circuit():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qp.PauliX(wires=0)  # Apply X gate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return qp.state()    # Return quantum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9651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No separate classical registers needed — just return measurements directly.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9943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A00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Essential Quantum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These gates are the building blocks of all quantum algorithms.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PauliX(wires=i)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NOT gate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Flips |0&gt; to |1&gt; and vice versa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PauliZ(wires=i)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Phase flip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Flips the phase: |1&gt; -&gt; -|1&gt;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Hadamard(wires=i)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Superposition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Creates equal superposition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CNOT(wires=[c,t])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Controlled-NOT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Flips target if control is |1&gt;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CZ(wires=[c,t])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Controlled-Z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Applies Z to target if control is |1&gt;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SWAP(wires=[a,b])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Swap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Swaps two qubits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Toffoli(wires=[a,b,c])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CCX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Flips target only if both controls are |1&gt;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199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A00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Complex Phase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Beyond the basics, phase gates rotate the qubit's phase without changing measurement probabilities directly: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2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Matrix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Phase Rotation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PauliY(wires=i)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[[0,-i],[i,0]]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pi rotation on Bloch sphere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[[1,0],[0,i]]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pi/2 phase - S = sqrt(Z)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T(wires=i)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[[1,0],[0,e^(i*pi/4)]]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pi/4 phase - T = sqrt(S)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Sdg(wires=i)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[[1,0],[0,-i]]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S dag (inverse of S)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Tdg(wires=i)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[[1,0],[0,e^(-i*pi/4)]]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T dag (inverse of T)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931919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Key insight: Phase gates have no visible effect when applied alone — but when sandwiched between Hadamards, they produce different measurement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C04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Multi-Qubit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Real quantum algorithms need controlled gates acting on multiple qubits: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2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Gate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Wires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CY([c,t])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 + Target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Controlled-Y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CH([c,t])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 + Target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Controlled-Hadamard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CRZ(lam,[c,t])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 + Target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 Z-rotation by angle lam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ControlledPhaseShift(lam,[c,t])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Control + Target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Adds phase e^(i*lam) when both |1&gt;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ctrl(U, control=c)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Any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Makes ANY gate controlled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9319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Three-qubit gates: Toffoli (CCX) — two controls, one target; Fredkin (CSWAP) — control + two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434839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Important: CRZ and ControlledPhaseShift are NOT equivalent — they differ by a phase on the control qubit.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C09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Discrete Fourier Transform (DFT)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Before understanding QFT, we need the classical DFT. Given N complex numbers x0, x1, ..., x_{N-1}: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7FF"/>
                </a:solidFill>
              </a:defRPr>
            </a:pPr>
            <a:r>
              <a:t>y_k = (1/sqrt(N)) * sum_{j=0}^{N-1} e^(-2*pi*i*k*j/N) * x_j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What does it do? Converts a signal from the time domain to the frequency domain.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Key property: If the input is periodic with period r, the DFT output has peaks at multiples of N/r.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Example: Input [1,0,0,0,1,0,0,0,1,0] (period r=5, N=10) -&gt; Output peaks at 0, 2, 4, 6,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This "finding the period" property is the foundation of Shor's Algorithm.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Quantum Fourier Transform (QFT)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The QFT operates on quantum state amplitudes. For a basis state |j&gt;: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7FF"/>
                </a:solidFill>
              </a:defRPr>
            </a:pPr>
            <a:r>
              <a:t>QFT|j&gt; = (1/sqrt(N)) * sum_{k=0}^{N-1} e^(2*pi*i*j*k/N) |k&gt;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423160"/>
            <a:ext cx="10515600" cy="5943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Surprising fact: The 1-qubit QFT is just the Hadamard gate!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QFT Circuit (n qubits):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solidFill>
            <a:srgbClr val="1A1A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def qft(n, qubits):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i in range(n):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qp.Hadamard(wires=qubits[i])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for j in range(i+1, n):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qp.ControlledPhaseShift(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    np.pi * 2 / 2**(j-i+1),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    wires=[qubits[j], qubits[i]]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i in range(n//2):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qp.SWAP(wires=[qubits[i], qubits[n-1-i]])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Speed: Classical FFT = O(n*2^n) vs Quantum QFT = O(n^2) — exponential speedup!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83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Inverse QFT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The inverse QFT (QFT dag) reverses the transformation: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20"/>
            <a:ext cx="10515600" cy="2688336"/>
          </a:xfrm>
          <a:prstGeom prst="rect">
            <a:avLst/>
          </a:prstGeom>
          <a:solidFill>
            <a:srgbClr val="1A1A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def iqft(n, qubits):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# Same as QFT but in REVERSE order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# and with NEGATIVE phase angles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i in range(n//2):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qp.SWAP(wires=[qubits[i], qubits[n-1-i]])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i in range(n-1, -1, -1):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for j in range(n-1, i, -1):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qp.ControlledPhaseShift(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    -np.pi * 2 / 2**(j-i+1),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    wires=[qubits[j], qubits[i]]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    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qp.Hadamard(wires=qubits[i])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00016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Verification: QFT * QFT dag = Identity (applying both gives back the original state)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01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Estimation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Problem: Given a unitary operator U and its eigenstate |psi&gt;, estimate the phase phi 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7FF"/>
                </a:solidFill>
              </a:defRPr>
            </a:pPr>
            <a:r>
              <a:t>U|psi&gt; = e^(2*pi*i*phi) |psi&gt;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Why does this matter? Phase estimation is the core subroutine of Shor's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Example: The X gate has eigenstates: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|+&gt; with eigenvalue +1 = e^(2*pi*i*0) -&gt; phase phi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|-&gt; with eigenvalue -1 = e^(2*pi*i*1/2) -&gt; phase phi = 1/2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Kickback — The Key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The trick that makes phase estimation work is phase kickback: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When we apply a controlled-U to a control qubit in superposition and the target is an eigenstate: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7FF"/>
                </a:solidFill>
              </a:defRPr>
            </a:pPr>
            <a:r>
              <a:t>CU * (|0&gt; + |1&gt;)/sqrt(2) tensor |psi&gt; = (|0&gt; + e^(2*pi*i*phi)|1&gt;)/sqrt(2) tensor |psi&gt;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The eigenvalue phase "kicks back" onto the control qubit! The target eigenstate is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By using CU^(2^j) for different powers j, we encode different bits of phi into different control qubits.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Phase Estimation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Setup: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Register 1 (t qubits): the "counting" register, initialized to |0...0&gt;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• Register 2: stores the eigenstate |psi&gt;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Steps: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515600" cy="2889503"/>
          </a:xfrm>
          <a:prstGeom prst="rect">
            <a:avLst/>
          </a:prstGeom>
          <a:solidFill>
            <a:srgbClr val="1A1A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Step 1: Apply Hadamard to all t control qubits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creates equal superposition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Step 2: Apply CU^(2^j) gates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CU^1 on qubit t-1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CU^2 on qubit t-2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...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CU^(2^(t-1)) on qubit 0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Step 3: Apply Inverse QFT to the t control qubits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Step 4: Measure the t control qubits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-&gt; result is the binary representation of phi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27063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Precision: t = n + ceil(log(2 + 1/(2*epsilon))) qubits gives n-bit precision with probability &gt;= 1-epsilon.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729983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PennyLane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515600" cy="4096511"/>
          </a:xfrm>
          <a:prstGeom prst="rect">
            <a:avLst/>
          </a:prstGeom>
          <a:solidFill>
            <a:srgbClr val="1A1A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def qpe(t, control, target, CU_func):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# Step 1: Hadamard on control qubits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q in control: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qp.Hadamard(wires=q)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# Step 2: Controlled-U^(2^j) gates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for i in range(t):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    CU_func(control[t-i-1], target, 2**i)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# Step 3: Inverse QFT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iqft(t, control)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@qp.qnode(dev)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def circuit():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control = list(range(t))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target = list(range(t, t+n))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qp.PauliX(wires=target[0])  # Prepare eigenstate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qpe(t, control, target, CU_func)</a:t>
            </a:r>
          </a:p>
          <a:p>
            <a:pPr>
              <a:spcAft>
                <a:spcPts val="200"/>
              </a:spcAft>
              <a:defRPr sz="1200">
                <a:solidFill>
                  <a:srgbClr val="A5D6FF"/>
                </a:solidFill>
                <a:latin typeface="Consolas"/>
              </a:defRPr>
            </a:pPr>
            <a:r>
              <a:t>    return qp.counts()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05271"/>
            <a:ext cx="10515600" cy="8229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Example: For phase = 5/16 with t=4 control qubits, the algorithm outputs |0101&gt; = 5, and 5/2^4 = 5/16. Exact!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65391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&amp;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Exact case (phase = 5/16, t=4): All 1000 shots give 0101 -&gt; phase = 5/16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Approximate case (phase = 0.685):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t (qubits)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Best estimate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DD6FE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rgbClr val="3B1F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0.185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0.75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0.065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0.625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0.060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0.6875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0.0025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0.6875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0.0025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0.6875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0.0025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0.68750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D4D4E8"/>
                          </a:solidFill>
                        </a:rPr>
                        <a:t>0.0025</a:t>
                      </a:r>
                    </a:p>
                  </a:txBody>
                  <a:tcPr>
                    <a:solidFill>
                      <a:srgbClr val="12102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074919"/>
            <a:ext cx="10515600" cy="5943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More qubits = better precision, but with diminishing returns.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Source: D03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Big Picture — Path to Shor's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37160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A00: Basic Gates &amp; PennyLane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96596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C04: Phase Gates (S, T) — understanding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56032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C09: Multi-qubit controlled gates — building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15468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D01: Classical DFT — frequency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520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74904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D02: Quantum Fourier Transform — exponential speedup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114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4343400"/>
            <a:ext cx="7315200" cy="411480"/>
          </a:xfrm>
          <a:prstGeom prst="rect">
            <a:avLst/>
          </a:prstGeom>
          <a:solidFill>
            <a:srgbClr val="1A153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DD6FE"/>
                </a:solidFill>
              </a:defRPr>
            </a:pPr>
            <a:r>
              <a:t>D03: Phase Estimation — finding eigenvalues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709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78BFA"/>
                </a:solidFill>
              </a:defRPr>
            </a:pPr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937760"/>
            <a:ext cx="7315200" cy="411480"/>
          </a:xfrm>
          <a:prstGeom prst="rect">
            <a:avLst/>
          </a:prstGeom>
          <a:solidFill>
            <a:srgbClr val="0A2E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6EFAC"/>
                </a:solidFill>
              </a:defRPr>
            </a:pPr>
            <a:r>
              <a:t>Shor's Algorithm — factoring large numbers!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0515600" cy="5943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Phase estimation + QFT = the heart of quantum advantage in many algorithms.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1. Quantum gates manipulate qubits through rotations and 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2. Phase gates (S, T) are invisible alone but become measurable between Hadamards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3969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3. Controlled operations allow qubits to conditionally act on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2374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4. QFT transforms quantum states to reveal frequency information in O(n^2)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5. Phase kickback lets us encode eigenvalue phases into control qubits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D4E8"/>
                </a:solidFill>
              </a:defRPr>
            </a:pPr>
            <a:r>
              <a:t>6. Phase estimation uses QFT dag to extract the phase in binary — the foundation of Shor's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75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What we built: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7880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E8"/>
                </a:solidFill>
              </a:defRPr>
            </a:pPr>
            <a:r>
              <a:t>Basic circuits -&gt; Phase gates -&gt; Multi-qubit gates -&gt; DFT -&gt; QFT -&gt; Phase Estimation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81728"/>
            <a:ext cx="10515600" cy="1051560"/>
          </a:xfrm>
          <a:prstGeom prst="rect">
            <a:avLst/>
          </a:prstGeom>
          <a:solidFill>
            <a:srgbClr val="1A16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DE68A"/>
                </a:solidFill>
              </a:defRPr>
            </a:pPr>
            <a:r>
              <a:t>Quantum computing is not just faster computing — it's a fundamentally different way of processing information using superposition, entanglement, and interference.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Based on QWorld QCourseware notebooks by Oezlem Salehi and Maksim Dimitrijev, implemented in PennyLane.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